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F259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188720"/>
            <a:ext cx="1828800" cy="1828800"/>
          </a:xfrm>
          <a:prstGeom prst="ellipse">
            <a:avLst/>
          </a:prstGeom>
          <a:solidFill>
            <a:srgbClr val="8341C9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18872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57200" y="342900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WALLET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411480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PAYMENT SYSTEM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489204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Secure Full-Stack Digital Payments Platform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371600" y="5760720"/>
            <a:ext cx="9445752" cy="502920"/>
          </a:xfrm>
          <a:prstGeom prst="rect">
            <a:avLst/>
          </a:prstGeom>
          <a:solidFill>
            <a:srgbClr val="3D1863"/>
          </a:solidFill>
          <a:ln/>
        </p:spPr>
      </p:sp>
      <p:sp>
        <p:nvSpPr>
          <p:cNvPr id="8" name="Text 6"/>
          <p:cNvSpPr/>
          <p:nvPr/>
        </p:nvSpPr>
        <p:spPr>
          <a:xfrm>
            <a:off x="1371600" y="5760720"/>
            <a:ext cx="94457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Angular 21   •   Spring Boot   •   PostgreSQL   •   Microsoft Azure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5F259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429000" cy="1280160"/>
          </a:xfrm>
          <a:prstGeom prst="roundRect">
            <a:avLst>
              <a:gd name="adj" fmla="val 5714"/>
            </a:avLst>
          </a:prstGeom>
          <a:solidFill>
            <a:srgbClr val="F0EBF8"/>
          </a:solidFill>
          <a:ln w="12700">
            <a:solidFill>
              <a:srgbClr val="D9D0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37360"/>
            <a:ext cx="914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F25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737360" y="173736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&amp; Problem Statement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389120" y="1600200"/>
            <a:ext cx="3429000" cy="1280160"/>
          </a:xfrm>
          <a:prstGeom prst="roundRect">
            <a:avLst>
              <a:gd name="adj" fmla="val 5714"/>
            </a:avLst>
          </a:prstGeom>
          <a:solidFill>
            <a:srgbClr val="F0EBF8"/>
          </a:solidFill>
          <a:ln w="12700">
            <a:solidFill>
              <a:srgbClr val="D9D0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0" y="1737360"/>
            <a:ext cx="914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F25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486400" y="173736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138160" y="1600200"/>
            <a:ext cx="3429000" cy="1280160"/>
          </a:xfrm>
          <a:prstGeom prst="roundRect">
            <a:avLst>
              <a:gd name="adj" fmla="val 5714"/>
            </a:avLst>
          </a:prstGeom>
          <a:solidFill>
            <a:srgbClr val="F0EBF8"/>
          </a:solidFill>
          <a:ln w="12700">
            <a:solidFill>
              <a:srgbClr val="D9D0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21040" y="1737360"/>
            <a:ext cx="914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F25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9235440" y="173736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3108960"/>
            <a:ext cx="3429000" cy="1280160"/>
          </a:xfrm>
          <a:prstGeom prst="roundRect">
            <a:avLst>
              <a:gd name="adj" fmla="val 5714"/>
            </a:avLst>
          </a:prstGeom>
          <a:solidFill>
            <a:srgbClr val="F0EBF8"/>
          </a:solidFill>
          <a:ln w="12700">
            <a:solidFill>
              <a:srgbClr val="D9D0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246120"/>
            <a:ext cx="914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F25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737360" y="324612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389120" y="3108960"/>
            <a:ext cx="3429000" cy="1280160"/>
          </a:xfrm>
          <a:prstGeom prst="roundRect">
            <a:avLst>
              <a:gd name="adj" fmla="val 5714"/>
            </a:avLst>
          </a:prstGeom>
          <a:solidFill>
            <a:srgbClr val="F0EBF8"/>
          </a:solidFill>
          <a:ln w="12700">
            <a:solidFill>
              <a:srgbClr val="D9D0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0" y="3246120"/>
            <a:ext cx="914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F25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5486400" y="324612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Design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8138160" y="3108960"/>
            <a:ext cx="3429000" cy="1280160"/>
          </a:xfrm>
          <a:prstGeom prst="roundRect">
            <a:avLst>
              <a:gd name="adj" fmla="val 5714"/>
            </a:avLst>
          </a:prstGeom>
          <a:solidFill>
            <a:srgbClr val="F0EBF8"/>
          </a:solidFill>
          <a:ln w="12700">
            <a:solidFill>
              <a:srgbClr val="D9D0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21040" y="3246120"/>
            <a:ext cx="914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F25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9235440" y="324612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 &amp; Modules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40080" y="4617720"/>
            <a:ext cx="3429000" cy="1280160"/>
          </a:xfrm>
          <a:prstGeom prst="roundRect">
            <a:avLst>
              <a:gd name="adj" fmla="val 5714"/>
            </a:avLst>
          </a:prstGeom>
          <a:solidFill>
            <a:srgbClr val="F0EBF8"/>
          </a:solidFill>
          <a:ln w="12700">
            <a:solidFill>
              <a:srgbClr val="D9D0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4754880"/>
            <a:ext cx="914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F25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1737360" y="475488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Implementation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4389120" y="4617720"/>
            <a:ext cx="3429000" cy="1280160"/>
          </a:xfrm>
          <a:prstGeom prst="roundRect">
            <a:avLst>
              <a:gd name="adj" fmla="val 5714"/>
            </a:avLst>
          </a:prstGeom>
          <a:solidFill>
            <a:srgbClr val="F0EBF8"/>
          </a:solidFill>
          <a:ln w="12700">
            <a:solidFill>
              <a:srgbClr val="D9D0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0" y="4754880"/>
            <a:ext cx="914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F25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5486400" y="475488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&amp; Validation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8138160" y="4617720"/>
            <a:ext cx="3429000" cy="1280160"/>
          </a:xfrm>
          <a:prstGeom prst="roundRect">
            <a:avLst>
              <a:gd name="adj" fmla="val 5714"/>
            </a:avLst>
          </a:prstGeom>
          <a:solidFill>
            <a:srgbClr val="F0EBF8"/>
          </a:solidFill>
          <a:ln w="12700">
            <a:solidFill>
              <a:srgbClr val="D9D0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21040" y="4754880"/>
            <a:ext cx="914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5F25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9235440" y="475488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Scope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5F259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 &amp; Problem Statement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2286000"/>
          </a:xfrm>
          <a:prstGeom prst="roundRect">
            <a:avLst>
              <a:gd name="adj" fmla="val 4000"/>
            </a:avLst>
          </a:prstGeom>
          <a:solidFill>
            <a:srgbClr val="F0EBF8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373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F25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Challenge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240280"/>
            <a:ext cx="4846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cash-based transactions are slow, insecure, and hard to track. Users need a fast, secure way to store money digitally and transfer funds instantly.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4023360"/>
            <a:ext cx="5394960" cy="2286000"/>
          </a:xfrm>
          <a:prstGeom prst="roundRect">
            <a:avLst>
              <a:gd name="adj" fmla="val 4000"/>
            </a:avLst>
          </a:prstGeom>
          <a:solidFill>
            <a:srgbClr val="F0EBF8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42062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F25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4709160"/>
            <a:ext cx="4846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digital wallet system where users register, receive a personal wallet, deposit funds, and transfer money instantly using a phone number and transaction PIN.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83680" y="1463040"/>
            <a:ext cx="5029200" cy="4937760"/>
          </a:xfrm>
          <a:prstGeom prst="roundRect">
            <a:avLst>
              <a:gd name="adj" fmla="val 3704"/>
            </a:avLst>
          </a:prstGeom>
          <a:solidFill>
            <a:srgbClr val="5F259F"/>
          </a:solidFill>
          <a:ln/>
        </p:spPr>
      </p:sp>
      <p:sp>
        <p:nvSpPr>
          <p:cNvPr id="11" name="Shape 9"/>
          <p:cNvSpPr/>
          <p:nvPr/>
        </p:nvSpPr>
        <p:spPr>
          <a:xfrm>
            <a:off x="6903720" y="1783080"/>
            <a:ext cx="4389120" cy="1417320"/>
          </a:xfrm>
          <a:prstGeom prst="roundRect">
            <a:avLst>
              <a:gd name="adj" fmla="val 6452"/>
            </a:avLst>
          </a:prstGeom>
          <a:solidFill>
            <a:srgbClr val="3D1863"/>
          </a:solidFill>
          <a:ln/>
        </p:spPr>
      </p:sp>
      <p:sp>
        <p:nvSpPr>
          <p:cNvPr id="12" name="Text 10"/>
          <p:cNvSpPr/>
          <p:nvPr/>
        </p:nvSpPr>
        <p:spPr>
          <a:xfrm>
            <a:off x="7132320" y="19202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 Balance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132320" y="224028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₹4,250.00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7040880" y="352044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6720840" y="416052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Money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503920" y="352044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8183880" y="416052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Money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9966960" y="352044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9646920" y="416052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History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903720" y="4709160"/>
            <a:ext cx="4389120" cy="548640"/>
          </a:xfrm>
          <a:prstGeom prst="roundRect">
            <a:avLst>
              <a:gd name="adj" fmla="val 10000"/>
            </a:avLst>
          </a:prstGeom>
          <a:solidFill>
            <a:srgbClr val="3D1863"/>
          </a:solidFill>
          <a:ln/>
        </p:spPr>
      </p:sp>
      <p:sp>
        <p:nvSpPr>
          <p:cNvPr id="21" name="Text 19"/>
          <p:cNvSpPr/>
          <p:nvPr/>
        </p:nvSpPr>
        <p:spPr>
          <a:xfrm>
            <a:off x="7086600" y="4800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 to Ravi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9509760" y="480060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-Rs.200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903720" y="5394960"/>
            <a:ext cx="4389120" cy="548640"/>
          </a:xfrm>
          <a:prstGeom prst="roundRect">
            <a:avLst>
              <a:gd name="adj" fmla="val 10000"/>
            </a:avLst>
          </a:prstGeom>
          <a:solidFill>
            <a:srgbClr val="3D1863"/>
          </a:solidFill>
          <a:ln/>
        </p:spPr>
      </p:sp>
      <p:sp>
        <p:nvSpPr>
          <p:cNvPr id="24" name="Text 22"/>
          <p:cNvSpPr/>
          <p:nvPr/>
        </p:nvSpPr>
        <p:spPr>
          <a:xfrm>
            <a:off x="7086600" y="54864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Money Added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9509760" y="548640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+Rs.1,000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5F259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474720" cy="2011680"/>
          </a:xfrm>
          <a:prstGeom prst="roundRect">
            <a:avLst>
              <a:gd name="adj" fmla="val 4545"/>
            </a:avLst>
          </a:prstGeom>
          <a:solidFill>
            <a:srgbClr val="F0EBF8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828800"/>
            <a:ext cx="548640" cy="548640"/>
          </a:xfrm>
          <a:prstGeom prst="ellipse">
            <a:avLst/>
          </a:prstGeom>
          <a:solidFill>
            <a:srgbClr val="5F259F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28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251460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Authentication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68680" y="2898648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JWT-based registration and login system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89120" y="1600200"/>
            <a:ext cx="3474720" cy="2011680"/>
          </a:xfrm>
          <a:prstGeom prst="roundRect">
            <a:avLst>
              <a:gd name="adj" fmla="val 4545"/>
            </a:avLst>
          </a:prstGeom>
          <a:solidFill>
            <a:srgbClr val="F0EBF8"/>
          </a:solidFill>
          <a:ln/>
        </p:spPr>
      </p:sp>
      <p:sp>
        <p:nvSpPr>
          <p:cNvPr id="10" name="Shape 8"/>
          <p:cNvSpPr/>
          <p:nvPr/>
        </p:nvSpPr>
        <p:spPr>
          <a:xfrm>
            <a:off x="4617720" y="1828800"/>
            <a:ext cx="548640" cy="548640"/>
          </a:xfrm>
          <a:prstGeom prst="ellipse">
            <a:avLst/>
          </a:prstGeom>
          <a:solidFill>
            <a:srgbClr val="5F259F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1828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17720" y="251460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Wallet Management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617720" y="2898648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Auto-provisioned digital wallet per user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38160" y="1600200"/>
            <a:ext cx="3474720" cy="2011680"/>
          </a:xfrm>
          <a:prstGeom prst="roundRect">
            <a:avLst>
              <a:gd name="adj" fmla="val 4545"/>
            </a:avLst>
          </a:prstGeom>
          <a:solidFill>
            <a:srgbClr val="F0EBF8"/>
          </a:solidFill>
          <a:ln/>
        </p:spPr>
      </p:sp>
      <p:sp>
        <p:nvSpPr>
          <p:cNvPr id="15" name="Shape 13"/>
          <p:cNvSpPr/>
          <p:nvPr/>
        </p:nvSpPr>
        <p:spPr>
          <a:xfrm>
            <a:off x="8366760" y="1828800"/>
            <a:ext cx="548640" cy="548640"/>
          </a:xfrm>
          <a:prstGeom prst="ellipse">
            <a:avLst/>
          </a:prstGeom>
          <a:solidFill>
            <a:srgbClr val="5F259F"/>
          </a:solidFill>
          <a:ln/>
        </p:spPr>
      </p:sp>
      <p:sp>
        <p:nvSpPr>
          <p:cNvPr id="16" name="Text 14"/>
          <p:cNvSpPr/>
          <p:nvPr/>
        </p:nvSpPr>
        <p:spPr>
          <a:xfrm>
            <a:off x="8366760" y="1828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366760" y="251460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 Transfers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366760" y="2898648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PIN-protected peer-to-peer transfers by phone number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3840480"/>
            <a:ext cx="3474720" cy="2011680"/>
          </a:xfrm>
          <a:prstGeom prst="roundRect">
            <a:avLst>
              <a:gd name="adj" fmla="val 4545"/>
            </a:avLst>
          </a:prstGeom>
          <a:solidFill>
            <a:srgbClr val="F0EBF8"/>
          </a:solidFill>
          <a:ln/>
        </p:spPr>
      </p:sp>
      <p:sp>
        <p:nvSpPr>
          <p:cNvPr id="20" name="Shape 18"/>
          <p:cNvSpPr/>
          <p:nvPr/>
        </p:nvSpPr>
        <p:spPr>
          <a:xfrm>
            <a:off x="868680" y="4069080"/>
            <a:ext cx="548640" cy="548640"/>
          </a:xfrm>
          <a:prstGeom prst="ellipse">
            <a:avLst/>
          </a:prstGeom>
          <a:solidFill>
            <a:srgbClr val="5F259F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4069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68680" y="475488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 History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68680" y="5138928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Complete, auditable record of all activity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89120" y="3840480"/>
            <a:ext cx="3474720" cy="2011680"/>
          </a:xfrm>
          <a:prstGeom prst="roundRect">
            <a:avLst>
              <a:gd name="adj" fmla="val 4545"/>
            </a:avLst>
          </a:prstGeom>
          <a:solidFill>
            <a:srgbClr val="F0EBF8"/>
          </a:solidFill>
          <a:ln/>
        </p:spPr>
      </p:sp>
      <p:sp>
        <p:nvSpPr>
          <p:cNvPr id="25" name="Shape 23"/>
          <p:cNvSpPr/>
          <p:nvPr/>
        </p:nvSpPr>
        <p:spPr>
          <a:xfrm>
            <a:off x="4617720" y="4069080"/>
            <a:ext cx="548640" cy="548640"/>
          </a:xfrm>
          <a:prstGeom prst="ellipse">
            <a:avLst/>
          </a:prstGeom>
          <a:solidFill>
            <a:srgbClr val="5F259F"/>
          </a:solidFill>
          <a:ln/>
        </p:spPr>
      </p:sp>
      <p:sp>
        <p:nvSpPr>
          <p:cNvPr id="26" name="Text 24"/>
          <p:cNvSpPr/>
          <p:nvPr/>
        </p:nvSpPr>
        <p:spPr>
          <a:xfrm>
            <a:off x="4617720" y="4069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4617720" y="475488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UI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4617720" y="5138928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Responsive interface inspired by real UPI apps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138160" y="3840480"/>
            <a:ext cx="3474720" cy="2011680"/>
          </a:xfrm>
          <a:prstGeom prst="roundRect">
            <a:avLst>
              <a:gd name="adj" fmla="val 4545"/>
            </a:avLst>
          </a:prstGeom>
          <a:solidFill>
            <a:srgbClr val="F0EBF8"/>
          </a:solidFill>
          <a:ln/>
        </p:spPr>
      </p:sp>
      <p:sp>
        <p:nvSpPr>
          <p:cNvPr id="30" name="Shape 28"/>
          <p:cNvSpPr/>
          <p:nvPr/>
        </p:nvSpPr>
        <p:spPr>
          <a:xfrm>
            <a:off x="8366760" y="4069080"/>
            <a:ext cx="548640" cy="548640"/>
          </a:xfrm>
          <a:prstGeom prst="ellipse">
            <a:avLst/>
          </a:prstGeom>
          <a:solidFill>
            <a:srgbClr val="5F259F"/>
          </a:solidFill>
          <a:ln/>
        </p:spPr>
      </p:sp>
      <p:sp>
        <p:nvSpPr>
          <p:cNvPr id="31" name="Text 29"/>
          <p:cNvSpPr/>
          <p:nvPr/>
        </p:nvSpPr>
        <p:spPr>
          <a:xfrm>
            <a:off x="8366760" y="4069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8366760" y="475488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Deployment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8366760" y="5138928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 deployment to Microsoft Azure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5F259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Three-tier layered architecture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371600" y="1691640"/>
            <a:ext cx="9418320" cy="1097280"/>
          </a:xfrm>
          <a:prstGeom prst="roundRect">
            <a:avLst>
              <a:gd name="adj" fmla="val 6667"/>
            </a:avLst>
          </a:prstGeom>
          <a:solidFill>
            <a:srgbClr val="5F259F"/>
          </a:solidFill>
          <a:ln/>
        </p:spPr>
      </p:sp>
      <p:sp>
        <p:nvSpPr>
          <p:cNvPr id="6" name="Text 4"/>
          <p:cNvSpPr/>
          <p:nvPr/>
        </p:nvSpPr>
        <p:spPr>
          <a:xfrm>
            <a:off x="1737360" y="1828800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LAYER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737360" y="2258568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Angular 21 (Standalone Components)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371600" y="3063240"/>
            <a:ext cx="9418320" cy="1097280"/>
          </a:xfrm>
          <a:prstGeom prst="roundRect">
            <a:avLst>
              <a:gd name="adj" fmla="val 6667"/>
            </a:avLst>
          </a:prstGeom>
          <a:solidFill>
            <a:srgbClr val="8341C9"/>
          </a:solidFill>
          <a:ln/>
        </p:spPr>
      </p:sp>
      <p:sp>
        <p:nvSpPr>
          <p:cNvPr id="9" name="Text 7"/>
          <p:cNvSpPr/>
          <p:nvPr/>
        </p:nvSpPr>
        <p:spPr>
          <a:xfrm>
            <a:off x="1737360" y="3200400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LAYER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737360" y="3630168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Boot REST API  (Controller -&gt; Service -&gt; Repository)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1371600" y="4434840"/>
            <a:ext cx="9418320" cy="1097280"/>
          </a:xfrm>
          <a:prstGeom prst="roundRect">
            <a:avLst>
              <a:gd name="adj" fmla="val 6667"/>
            </a:avLst>
          </a:prstGeom>
          <a:solidFill>
            <a:srgbClr val="7B4BB8"/>
          </a:solidFill>
          <a:ln/>
        </p:spPr>
      </p:sp>
      <p:sp>
        <p:nvSpPr>
          <p:cNvPr id="12" name="Text 10"/>
          <p:cNvSpPr/>
          <p:nvPr/>
        </p:nvSpPr>
        <p:spPr>
          <a:xfrm>
            <a:off x="1737360" y="4572000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LAYER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737360" y="5001768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Database (via Spring Data JPA / Hibernate)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 rot="10800000">
            <a:off x="5806440" y="2834640"/>
            <a:ext cx="548640" cy="274320"/>
          </a:xfrm>
          <a:prstGeom prst="triangle">
            <a:avLst/>
          </a:prstGeom>
          <a:solidFill>
            <a:srgbClr val="5A5A6B"/>
          </a:solidFill>
          <a:ln/>
        </p:spPr>
      </p:sp>
      <p:sp>
        <p:nvSpPr>
          <p:cNvPr id="15" name="Shape 13"/>
          <p:cNvSpPr/>
          <p:nvPr/>
        </p:nvSpPr>
        <p:spPr>
          <a:xfrm rot="10800000">
            <a:off x="5806440" y="4206240"/>
            <a:ext cx="548640" cy="274320"/>
          </a:xfrm>
          <a:prstGeom prst="triangle">
            <a:avLst/>
          </a:prstGeom>
          <a:solidFill>
            <a:srgbClr val="5A5A6B"/>
          </a:solidFill>
          <a:ln/>
        </p:spPr>
      </p:sp>
      <p:sp>
        <p:nvSpPr>
          <p:cNvPr id="16" name="Text 14"/>
          <p:cNvSpPr/>
          <p:nvPr/>
        </p:nvSpPr>
        <p:spPr>
          <a:xfrm>
            <a:off x="1371600" y="5715000"/>
            <a:ext cx="9418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A5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JWT-secured REST APIs (JSON over HTTPS)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5F259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896112"/>
          </a:xfrm>
          <a:prstGeom prst="rect">
            <a:avLst/>
          </a:prstGeom>
          <a:solidFill>
            <a:srgbClr val="F0EBF8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91640"/>
            <a:ext cx="1645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F25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2560320" y="1691640"/>
            <a:ext cx="2377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Angular 21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029200" y="1691640"/>
            <a:ext cx="6400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TypeScript, standalone components, lazy-loaded routing, HttpClient + interceptors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496312"/>
            <a:ext cx="11064240" cy="8961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587752"/>
            <a:ext cx="1645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F25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2560320" y="2587752"/>
            <a:ext cx="2377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Boot 3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029200" y="2587752"/>
            <a:ext cx="6400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APIs, Spring Security, Spring Data JPA, Bean Validation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392424"/>
            <a:ext cx="11064240" cy="896112"/>
          </a:xfrm>
          <a:prstGeom prst="rect">
            <a:avLst/>
          </a:prstGeom>
          <a:solidFill>
            <a:srgbClr val="F0EBF8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483864"/>
            <a:ext cx="1645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F25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2560320" y="3483864"/>
            <a:ext cx="2377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029200" y="3483864"/>
            <a:ext cx="6400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Relational schema: users, wallets, transactions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288536"/>
            <a:ext cx="11064240" cy="8961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379976"/>
            <a:ext cx="1645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F25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2560320" y="4379976"/>
            <a:ext cx="2377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+ BCrypt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029200" y="4379976"/>
            <a:ext cx="6400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Stateless auth tokens, hashed passwords &amp; transaction PINs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5184648"/>
            <a:ext cx="11064240" cy="896112"/>
          </a:xfrm>
          <a:prstGeom prst="rect">
            <a:avLst/>
          </a:prstGeom>
          <a:solidFill>
            <a:srgbClr val="F0EBF8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5276088"/>
            <a:ext cx="1645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F25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560320" y="5276088"/>
            <a:ext cx="23774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Azure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029200" y="5276088"/>
            <a:ext cx="64008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Service, Static Web Apps, Azure Database for PostgreSQL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5F259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Design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Entity-Relationship Overview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3383280" cy="2679192"/>
          </a:xfrm>
          <a:prstGeom prst="roundRect">
            <a:avLst>
              <a:gd name="adj" fmla="val 2048"/>
            </a:avLst>
          </a:prstGeom>
          <a:solidFill>
            <a:srgbClr val="FFFFFF"/>
          </a:solidFill>
          <a:ln w="19050">
            <a:solidFill>
              <a:srgbClr val="5F259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54480"/>
            <a:ext cx="3383280" cy="457200"/>
          </a:xfrm>
          <a:prstGeom prst="rect">
            <a:avLst/>
          </a:prstGeom>
          <a:solidFill>
            <a:srgbClr val="5F259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5544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2057400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 (PK)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368296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full_name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679192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(unique)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990088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 (hashed)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300984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phone_number (unique)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611880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transaction_pin (hashed)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3922776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created_at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34840" y="1554480"/>
            <a:ext cx="3383280" cy="2368296"/>
          </a:xfrm>
          <a:prstGeom prst="roundRect">
            <a:avLst>
              <a:gd name="adj" fmla="val 2317"/>
            </a:avLst>
          </a:prstGeom>
          <a:solidFill>
            <a:srgbClr val="FFFFFF"/>
          </a:solidFill>
          <a:ln w="19050">
            <a:solidFill>
              <a:srgbClr val="5F259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34840" y="1554480"/>
            <a:ext cx="3383280" cy="457200"/>
          </a:xfrm>
          <a:prstGeom prst="rect">
            <a:avLst/>
          </a:prstGeom>
          <a:solidFill>
            <a:srgbClr val="5F259F"/>
          </a:solidFill>
          <a:ln/>
        </p:spPr>
      </p:sp>
      <p:sp>
        <p:nvSpPr>
          <p:cNvPr id="17" name="Text 15"/>
          <p:cNvSpPr/>
          <p:nvPr/>
        </p:nvSpPr>
        <p:spPr>
          <a:xfrm>
            <a:off x="4434840" y="15544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wallets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617720" y="2057400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 (PK)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17720" y="2368296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user_id (FK -&gt; users)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17720" y="2679192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17720" y="2990088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currency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617720" y="3300984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617720" y="3611880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updated_at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412480" y="1554480"/>
            <a:ext cx="3383280" cy="3300984"/>
          </a:xfrm>
          <a:prstGeom prst="roundRect">
            <a:avLst>
              <a:gd name="adj" fmla="val 1662"/>
            </a:avLst>
          </a:prstGeom>
          <a:solidFill>
            <a:srgbClr val="FFFFFF"/>
          </a:solidFill>
          <a:ln w="19050">
            <a:solidFill>
              <a:srgbClr val="5F259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412480" y="1554480"/>
            <a:ext cx="3383280" cy="457200"/>
          </a:xfrm>
          <a:prstGeom prst="rect">
            <a:avLst/>
          </a:prstGeom>
          <a:solidFill>
            <a:srgbClr val="5F259F"/>
          </a:solidFill>
          <a:ln/>
        </p:spPr>
      </p:sp>
      <p:sp>
        <p:nvSpPr>
          <p:cNvPr id="26" name="Text 24"/>
          <p:cNvSpPr/>
          <p:nvPr/>
        </p:nvSpPr>
        <p:spPr>
          <a:xfrm>
            <a:off x="8412480" y="15544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595360" y="2057400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 (PK)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595360" y="2368296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reference_id (unique)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595360" y="2679192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sender_id (FK)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595360" y="2990088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receiver_id (FK)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595360" y="3300984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amount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595360" y="3611880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595360" y="3922776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595360" y="4233672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description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595360" y="4544568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created_at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48640" y="56235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A5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transactions table (using a "type" column) captures deposits, transfers, and payments in one schema, enabling a single query for full transaction history.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5F259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 &amp; Modules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6420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0A344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642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" y="155448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registration with 4-digit transaction PIN setup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57860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0A344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5786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43000" y="246888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JWT-based login, auto-attached to every request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49300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0A344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4930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43000" y="338328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Auto-created digital wallet on registration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40740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0A344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4074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43000" y="429768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deposits into wallet balance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532180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0A344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53218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43000" y="521208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money via phone number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17920" y="166420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0A344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0" y="16642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720840" y="155448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 confirmation required for every transfer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217920" y="257860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0A344"/>
          </a:solidFill>
          <a:ln/>
        </p:spPr>
      </p:sp>
      <p:sp>
        <p:nvSpPr>
          <p:cNvPr id="23" name="Text 21"/>
          <p:cNvSpPr/>
          <p:nvPr/>
        </p:nvSpPr>
        <p:spPr>
          <a:xfrm>
            <a:off x="6217920" y="25786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720840" y="246888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balance validation prevents overdrafts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217920" y="349300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0A344"/>
          </a:solidFill>
          <a:ln/>
        </p:spPr>
      </p:sp>
      <p:sp>
        <p:nvSpPr>
          <p:cNvPr id="26" name="Text 24"/>
          <p:cNvSpPr/>
          <p:nvPr/>
        </p:nvSpPr>
        <p:spPr>
          <a:xfrm>
            <a:off x="6217920" y="34930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720840" y="338328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transaction history with status indicators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217920" y="440740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0A344"/>
          </a:solidFill>
          <a:ln/>
        </p:spPr>
      </p:sp>
      <p:sp>
        <p:nvSpPr>
          <p:cNvPr id="29" name="Text 27"/>
          <p:cNvSpPr/>
          <p:nvPr/>
        </p:nvSpPr>
        <p:spPr>
          <a:xfrm>
            <a:off x="6217920" y="44074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720840" y="429768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with monthly Money In / Out summary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217920" y="532180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0A344"/>
          </a:solidFill>
          <a:ln/>
        </p:spPr>
      </p:sp>
      <p:sp>
        <p:nvSpPr>
          <p:cNvPr id="32" name="Text 30"/>
          <p:cNvSpPr/>
          <p:nvPr/>
        </p:nvSpPr>
        <p:spPr>
          <a:xfrm>
            <a:off x="6217920" y="53218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720840" y="521208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Send — one-tap transfers to recent contacts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5F259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Implementation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08760"/>
            <a:ext cx="3474720" cy="2148840"/>
          </a:xfrm>
          <a:prstGeom prst="roundRect">
            <a:avLst>
              <a:gd name="adj" fmla="val 4255"/>
            </a:avLst>
          </a:prstGeom>
          <a:solidFill>
            <a:srgbClr val="3D1863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7830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Authentication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37744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Stateless, signed tokens for every protected request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389120" y="1508760"/>
            <a:ext cx="3474720" cy="2148840"/>
          </a:xfrm>
          <a:prstGeom prst="roundRect">
            <a:avLst>
              <a:gd name="adj" fmla="val 4255"/>
            </a:avLst>
          </a:prstGeom>
          <a:solidFill>
            <a:srgbClr val="3D1863"/>
          </a:solidFill>
          <a:ln/>
        </p:spPr>
      </p:sp>
      <p:sp>
        <p:nvSpPr>
          <p:cNvPr id="7" name="Text 5"/>
          <p:cNvSpPr/>
          <p:nvPr/>
        </p:nvSpPr>
        <p:spPr>
          <a:xfrm>
            <a:off x="4663440" y="17830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BCrypt Hashing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663440" y="237744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Passwords and PINs never stored in plain text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138160" y="1508760"/>
            <a:ext cx="3474720" cy="2148840"/>
          </a:xfrm>
          <a:prstGeom prst="roundRect">
            <a:avLst>
              <a:gd name="adj" fmla="val 4255"/>
            </a:avLst>
          </a:prstGeom>
          <a:solidFill>
            <a:srgbClr val="3D1863"/>
          </a:solidFill>
          <a:ln/>
        </p:spPr>
      </p:sp>
      <p:sp>
        <p:nvSpPr>
          <p:cNvPr id="10" name="Text 8"/>
          <p:cNvSpPr/>
          <p:nvPr/>
        </p:nvSpPr>
        <p:spPr>
          <a:xfrm>
            <a:off x="8412480" y="178308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 PIN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12480" y="237744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 authentication factor for money movement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886200"/>
            <a:ext cx="3474720" cy="2148840"/>
          </a:xfrm>
          <a:prstGeom prst="roundRect">
            <a:avLst>
              <a:gd name="adj" fmla="val 4255"/>
            </a:avLst>
          </a:prstGeom>
          <a:solidFill>
            <a:srgbClr val="3D1863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Validation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Server-side validation on every API request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389120" y="3886200"/>
            <a:ext cx="3474720" cy="2148840"/>
          </a:xfrm>
          <a:prstGeom prst="roundRect">
            <a:avLst>
              <a:gd name="adj" fmla="val 4255"/>
            </a:avLst>
          </a:prstGeom>
          <a:solidFill>
            <a:srgbClr val="3D1863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416052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Exception Handling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663440" y="475488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Centralized, consistent error responses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138160" y="3886200"/>
            <a:ext cx="3474720" cy="2148840"/>
          </a:xfrm>
          <a:prstGeom prst="roundRect">
            <a:avLst>
              <a:gd name="adj" fmla="val 4255"/>
            </a:avLst>
          </a:prstGeom>
          <a:solidFill>
            <a:srgbClr val="3D1863"/>
          </a:solidFill>
          <a:ln/>
        </p:spPr>
      </p:sp>
      <p:sp>
        <p:nvSpPr>
          <p:cNvPr id="19" name="Text 17"/>
          <p:cNvSpPr/>
          <p:nvPr/>
        </p:nvSpPr>
        <p:spPr>
          <a:xfrm>
            <a:off x="8412480" y="416052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CORS Policy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412480" y="475488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Restricts which origins can call the API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5F259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&amp; Validation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via Postman and end-to-end UI testing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10881360" cy="713232"/>
          </a:xfrm>
          <a:prstGeom prst="roundRect">
            <a:avLst>
              <a:gd name="adj" fmla="val 7692"/>
            </a:avLst>
          </a:prstGeom>
          <a:solidFill>
            <a:srgbClr val="F0EBF8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1728216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0A344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7282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17320" y="1554480"/>
            <a:ext cx="2743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Registration &amp; Login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297680" y="1554480"/>
            <a:ext cx="7040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 email/phone rejected; valid credentials issue JWT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331720"/>
            <a:ext cx="1088136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9D0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" y="2505456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0A344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25054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17320" y="2331720"/>
            <a:ext cx="2743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Deposit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297680" y="2331720"/>
            <a:ext cx="7040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Wallet balance correctly increases after deposit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108960"/>
            <a:ext cx="10881360" cy="713232"/>
          </a:xfrm>
          <a:prstGeom prst="roundRect">
            <a:avLst>
              <a:gd name="adj" fmla="val 7692"/>
            </a:avLst>
          </a:prstGeom>
          <a:solidFill>
            <a:srgbClr val="F0EBF8"/>
          </a:solidFill>
          <a:ln/>
        </p:spPr>
      </p:sp>
      <p:sp>
        <p:nvSpPr>
          <p:cNvPr id="16" name="Shape 14"/>
          <p:cNvSpPr/>
          <p:nvPr/>
        </p:nvSpPr>
        <p:spPr>
          <a:xfrm>
            <a:off x="868680" y="3282696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0A344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328269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17320" y="3108960"/>
            <a:ext cx="2743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297680" y="3108960"/>
            <a:ext cx="7040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 deducted from sender, credited to receiver atomically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3886200"/>
            <a:ext cx="1088136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9D0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" y="4059936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0A344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405993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417320" y="3886200"/>
            <a:ext cx="2743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 Verification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297680" y="3886200"/>
            <a:ext cx="7040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Incorrect PIN blocks transfer with clear error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" y="4663440"/>
            <a:ext cx="10881360" cy="713232"/>
          </a:xfrm>
          <a:prstGeom prst="roundRect">
            <a:avLst>
              <a:gd name="adj" fmla="val 7692"/>
            </a:avLst>
          </a:prstGeom>
          <a:solidFill>
            <a:srgbClr val="F0EBF8"/>
          </a:solidFill>
          <a:ln/>
        </p:spPr>
      </p:sp>
      <p:sp>
        <p:nvSpPr>
          <p:cNvPr id="26" name="Shape 24"/>
          <p:cNvSpPr/>
          <p:nvPr/>
        </p:nvSpPr>
        <p:spPr>
          <a:xfrm>
            <a:off x="868680" y="4837176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0A344"/>
          </a:solidFill>
          <a:ln/>
        </p:spPr>
      </p:sp>
      <p:sp>
        <p:nvSpPr>
          <p:cNvPr id="27" name="Text 25"/>
          <p:cNvSpPr/>
          <p:nvPr/>
        </p:nvSpPr>
        <p:spPr>
          <a:xfrm>
            <a:off x="868680" y="483717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417320" y="4663440"/>
            <a:ext cx="2743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 Validation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4297680" y="4663440"/>
            <a:ext cx="7040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Transfers exceeding balance are rejected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40080" y="5440680"/>
            <a:ext cx="1088136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9D0E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68680" y="5614416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00A344"/>
          </a:solidFill>
          <a:ln/>
        </p:spPr>
      </p:sp>
      <p:sp>
        <p:nvSpPr>
          <p:cNvPr id="32" name="Text 30"/>
          <p:cNvSpPr/>
          <p:nvPr/>
        </p:nvSpPr>
        <p:spPr>
          <a:xfrm>
            <a:off x="868680" y="56144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417320" y="5440680"/>
            <a:ext cx="2743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 History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4297680" y="5440680"/>
            <a:ext cx="70408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deposits and transfers appear correctly, most recent first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5F259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Scope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12080" cy="1417320"/>
          </a:xfrm>
          <a:prstGeom prst="roundRect">
            <a:avLst>
              <a:gd name="adj" fmla="val 5161"/>
            </a:avLst>
          </a:prstGeom>
          <a:solidFill>
            <a:srgbClr val="F0EBF8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65960"/>
            <a:ext cx="109728" cy="868680"/>
          </a:xfrm>
          <a:prstGeom prst="rect">
            <a:avLst/>
          </a:prstGeom>
          <a:solidFill>
            <a:srgbClr val="5F259F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1892808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5F25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Bill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143000" y="2350008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Divide an amount among multiple recipients in one operation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1691640"/>
            <a:ext cx="5212080" cy="1417320"/>
          </a:xfrm>
          <a:prstGeom prst="roundRect">
            <a:avLst>
              <a:gd name="adj" fmla="val 5161"/>
            </a:avLst>
          </a:prstGeom>
          <a:solidFill>
            <a:srgbClr val="F0EBF8"/>
          </a:solidFill>
          <a:ln/>
        </p:spPr>
      </p:sp>
      <p:sp>
        <p:nvSpPr>
          <p:cNvPr id="9" name="Shape 7"/>
          <p:cNvSpPr/>
          <p:nvPr/>
        </p:nvSpPr>
        <p:spPr>
          <a:xfrm>
            <a:off x="6446520" y="1965960"/>
            <a:ext cx="109728" cy="868680"/>
          </a:xfrm>
          <a:prstGeom prst="rect">
            <a:avLst/>
          </a:prstGeom>
          <a:solidFill>
            <a:srgbClr val="5F259F"/>
          </a:solidFill>
          <a:ln/>
        </p:spPr>
      </p:sp>
      <p:sp>
        <p:nvSpPr>
          <p:cNvPr id="10" name="Text 8"/>
          <p:cNvSpPr/>
          <p:nvPr/>
        </p:nvSpPr>
        <p:spPr>
          <a:xfrm>
            <a:off x="6720840" y="1892808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5F25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Money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720840" y="2350008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another user for funds, with approve/reject workflow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337560"/>
            <a:ext cx="5212080" cy="1417320"/>
          </a:xfrm>
          <a:prstGeom prst="roundRect">
            <a:avLst>
              <a:gd name="adj" fmla="val 5161"/>
            </a:avLst>
          </a:prstGeom>
          <a:solidFill>
            <a:srgbClr val="F0EBF8"/>
          </a:solidFill>
          <a:ln/>
        </p:spPr>
      </p:sp>
      <p:sp>
        <p:nvSpPr>
          <p:cNvPr id="13" name="Shape 11"/>
          <p:cNvSpPr/>
          <p:nvPr/>
        </p:nvSpPr>
        <p:spPr>
          <a:xfrm>
            <a:off x="868680" y="3611880"/>
            <a:ext cx="109728" cy="868680"/>
          </a:xfrm>
          <a:prstGeom prst="rect">
            <a:avLst/>
          </a:prstGeom>
          <a:solidFill>
            <a:srgbClr val="5F259F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3538728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5F25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Deployment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143000" y="3995928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to Microsoft Azure with CI/CD pipelines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3337560"/>
            <a:ext cx="5212080" cy="1417320"/>
          </a:xfrm>
          <a:prstGeom prst="roundRect">
            <a:avLst>
              <a:gd name="adj" fmla="val 5161"/>
            </a:avLst>
          </a:prstGeom>
          <a:solidFill>
            <a:srgbClr val="F0EBF8"/>
          </a:solidFill>
          <a:ln/>
        </p:spPr>
      </p:sp>
      <p:sp>
        <p:nvSpPr>
          <p:cNvPr id="17" name="Shape 15"/>
          <p:cNvSpPr/>
          <p:nvPr/>
        </p:nvSpPr>
        <p:spPr>
          <a:xfrm>
            <a:off x="6446520" y="3611880"/>
            <a:ext cx="109728" cy="868680"/>
          </a:xfrm>
          <a:prstGeom prst="rect">
            <a:avLst/>
          </a:prstGeom>
          <a:solidFill>
            <a:srgbClr val="5F259F"/>
          </a:solidFill>
          <a:ln/>
        </p:spPr>
      </p:sp>
      <p:sp>
        <p:nvSpPr>
          <p:cNvPr id="18" name="Text 16"/>
          <p:cNvSpPr/>
          <p:nvPr/>
        </p:nvSpPr>
        <p:spPr>
          <a:xfrm>
            <a:off x="6720840" y="3538728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5F25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 Payments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720840" y="3995928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with real utility and recharge providers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4983480"/>
            <a:ext cx="5212080" cy="1417320"/>
          </a:xfrm>
          <a:prstGeom prst="roundRect">
            <a:avLst>
              <a:gd name="adj" fmla="val 5161"/>
            </a:avLst>
          </a:prstGeom>
          <a:solidFill>
            <a:srgbClr val="F0EBF8"/>
          </a:solidFill>
          <a:ln/>
        </p:spPr>
      </p:sp>
      <p:sp>
        <p:nvSpPr>
          <p:cNvPr id="21" name="Shape 19"/>
          <p:cNvSpPr/>
          <p:nvPr/>
        </p:nvSpPr>
        <p:spPr>
          <a:xfrm>
            <a:off x="868680" y="5257800"/>
            <a:ext cx="109728" cy="868680"/>
          </a:xfrm>
          <a:prstGeom prst="rect">
            <a:avLst/>
          </a:prstGeom>
          <a:solidFill>
            <a:srgbClr val="5F259F"/>
          </a:solidFill>
          <a:ln/>
        </p:spPr>
      </p:sp>
      <p:sp>
        <p:nvSpPr>
          <p:cNvPr id="22" name="Text 20"/>
          <p:cNvSpPr/>
          <p:nvPr/>
        </p:nvSpPr>
        <p:spPr>
          <a:xfrm>
            <a:off x="1143000" y="5184648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5F25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1143000" y="5641848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spending charts and category-wise breakdowns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5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5F259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651760"/>
            <a:ext cx="112745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457200" y="356616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Discussion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286000" y="5760720"/>
            <a:ext cx="7616952" cy="502920"/>
          </a:xfrm>
          <a:prstGeom prst="rect">
            <a:avLst/>
          </a:prstGeom>
          <a:solidFill>
            <a:srgbClr val="3D1863"/>
          </a:solidFill>
          <a:ln/>
        </p:spPr>
      </p:sp>
      <p:sp>
        <p:nvSpPr>
          <p:cNvPr id="5" name="Text 3"/>
          <p:cNvSpPr/>
          <p:nvPr/>
        </p:nvSpPr>
        <p:spPr>
          <a:xfrm>
            <a:off x="2286000" y="5760720"/>
            <a:ext cx="761695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Wallet and Payment System   |   Angular 21  -  Spring Boot  -  PostgreSQL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2026-07-14T05:58:37Z</dcterms:created>
  <dcterms:modified xsi:type="dcterms:W3CDTF">2026-07-14T05:58:37Z</dcterms:modified>
</cp:coreProperties>
</file>